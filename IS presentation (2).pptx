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59" r:id="rId13"/>
    <p:sldId id="260" r:id="rId14"/>
    <p:sldId id="261" r:id="rId15"/>
    <p:sldId id="262" r:id="rId16"/>
  </p:sldIdLst>
  <p:sldSz cx="18288000" cy="10287000"/>
  <p:notesSz cx="6858000" cy="9144000"/>
  <p:embeddedFontLst>
    <p:embeddedFont>
      <p:font typeface="Alexandria Semi Bold" panose="020B0604020202020204" charset="0"/>
      <p:regular r:id="rId18"/>
    </p:embeddedFont>
    <p:embeddedFont>
      <p:font typeface="Britannic Bold" panose="020B0903060703020204" pitchFamily="34" charset="0"/>
      <p:regular r:id="rId19"/>
    </p:embeddedFont>
    <p:embeddedFont>
      <p:font typeface="Quicksand" panose="020B0604020202020204" charset="0"/>
      <p:regular r:id="rId20"/>
      <p:bold r:id="rId21"/>
    </p:embeddedFont>
    <p:embeddedFont>
      <p:font typeface="Sora Light" panose="020B0604020202020204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ormorant Garamond" panose="020B0604020202020204" charset="0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 snapToGrid="0">
      <p:cViewPr varScale="1">
        <p:scale>
          <a:sx n="47" d="100"/>
          <a:sy n="47" d="100"/>
        </p:scale>
        <p:origin x="70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8079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445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fa77ef4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fa77ef4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323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fa77ef46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fa77ef46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0234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2439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9843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3570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2019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304801" y="1721216"/>
            <a:ext cx="9678399" cy="172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20" b="1" i="1" u="none" strike="noStrike" cap="non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Group Presentation</a:t>
            </a:r>
            <a:endParaRPr/>
          </a:p>
        </p:txBody>
      </p:sp>
      <p:cxnSp>
        <p:nvCxnSpPr>
          <p:cNvPr id="85" name="Google Shape;85;p13"/>
          <p:cNvCxnSpPr/>
          <p:nvPr/>
        </p:nvCxnSpPr>
        <p:spPr>
          <a:xfrm>
            <a:off x="9158735" y="990600"/>
            <a:ext cx="8114971" cy="0"/>
          </a:xfrm>
          <a:prstGeom prst="straightConnector1">
            <a:avLst/>
          </a:prstGeom>
          <a:noFill/>
          <a:ln w="76200" cap="flat" cmpd="sng">
            <a:solidFill>
              <a:srgbClr val="0F466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13"/>
          <p:cNvCxnSpPr/>
          <p:nvPr/>
        </p:nvCxnSpPr>
        <p:spPr>
          <a:xfrm>
            <a:off x="1043764" y="9751050"/>
            <a:ext cx="8115000" cy="0"/>
          </a:xfrm>
          <a:prstGeom prst="straightConnector1">
            <a:avLst/>
          </a:prstGeom>
          <a:noFill/>
          <a:ln w="76200" cap="flat" cmpd="sng">
            <a:solidFill>
              <a:srgbClr val="0F466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13"/>
          <p:cNvSpPr/>
          <p:nvPr/>
        </p:nvSpPr>
        <p:spPr>
          <a:xfrm>
            <a:off x="9571756" y="930944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 extrusionOk="0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3"/>
          <p:cNvSpPr txBox="1"/>
          <p:nvPr/>
        </p:nvSpPr>
        <p:spPr>
          <a:xfrm>
            <a:off x="2737539" y="3558521"/>
            <a:ext cx="12812922" cy="82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89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Hash Functions &amp; Digital Signatures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299504" y="9488115"/>
            <a:ext cx="6988496" cy="52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41" b="0" i="0" u="none" strike="noStrike" cap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15 February, 2024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22179" y="1391457"/>
            <a:ext cx="11643643" cy="5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41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Software Engineering Department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 extrusionOk="0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3"/>
          <p:cNvSpPr txBox="1"/>
          <p:nvPr/>
        </p:nvSpPr>
        <p:spPr>
          <a:xfrm>
            <a:off x="3150109" y="4529661"/>
            <a:ext cx="11643643" cy="5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41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Semester VI Regular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6517" y="5228012"/>
            <a:ext cx="5726844" cy="57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1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Group Members: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490481" y="5978487"/>
            <a:ext cx="3367439" cy="2957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Laiba Zafar (14)</a:t>
            </a:r>
            <a:endParaRPr/>
          </a:p>
          <a:p>
            <a:pPr marL="0" marR="0" lvl="0" indent="0" algn="just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Khadija Azhar (11)</a:t>
            </a:r>
            <a:endParaRPr/>
          </a:p>
          <a:p>
            <a:pPr marL="0" marR="0" lvl="0" indent="0" algn="just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Fatima Mansoor (9)</a:t>
            </a:r>
            <a:endParaRPr/>
          </a:p>
          <a:p>
            <a:pPr marL="0" marR="0" lvl="0" indent="0" algn="just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Nimra Khan (21)</a:t>
            </a:r>
            <a:endParaRPr/>
          </a:p>
          <a:p>
            <a:pPr marL="0" marR="0" lvl="0" indent="0" algn="just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Alishba Aymen (01)</a:t>
            </a:r>
            <a:endParaRPr/>
          </a:p>
          <a:p>
            <a:pPr marL="0" marR="0" lvl="0" indent="0" algn="just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Emaan Tariq (7)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3856450" y="281825"/>
            <a:ext cx="12800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1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Hash Function Key Features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5555803" y="835684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4"/>
          <p:cNvSpPr txBox="1"/>
          <p:nvPr/>
        </p:nvSpPr>
        <p:spPr>
          <a:xfrm>
            <a:off x="638100" y="2375263"/>
            <a:ext cx="7867800" cy="4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11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2500">
                <a:solidFill>
                  <a:srgbClr val="404040"/>
                </a:solidFill>
              </a:rPr>
              <a:t>No matter how big or small the input is, the hash function </a:t>
            </a:r>
            <a:r>
              <a:rPr lang="en-US" sz="2500" b="1">
                <a:solidFill>
                  <a:srgbClr val="404040"/>
                </a:solidFill>
              </a:rPr>
              <a:t>always produces a fixed-length output</a:t>
            </a:r>
            <a:r>
              <a:rPr lang="en-US" sz="2500">
                <a:solidFill>
                  <a:srgbClr val="404040"/>
                </a:solidFill>
              </a:rPr>
              <a:t> (hash).</a:t>
            </a:r>
            <a:r>
              <a:rPr lang="en-US" sz="2500">
                <a:solidFill>
                  <a:schemeClr val="dk1"/>
                </a:solidFill>
              </a:rPr>
              <a:t>​</a:t>
            </a:r>
            <a:endParaRPr sz="2500">
              <a:solidFill>
                <a:schemeClr val="dk1"/>
              </a:solidFill>
            </a:endParaRPr>
          </a:p>
          <a:p>
            <a:pPr marL="711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2500">
                <a:solidFill>
                  <a:srgbClr val="404040"/>
                </a:solidFill>
              </a:rPr>
              <a:t>(Fixed Length: 64 Characters).</a:t>
            </a:r>
            <a:r>
              <a:rPr lang="en-US" sz="2500">
                <a:solidFill>
                  <a:schemeClr val="dk1"/>
                </a:solidFill>
              </a:rPr>
              <a:t>​</a:t>
            </a: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rgbClr val="404040"/>
                </a:solidFill>
              </a:rPr>
              <a:t>   </a:t>
            </a:r>
            <a:r>
              <a:rPr lang="en-US" sz="2500" b="1">
                <a:solidFill>
                  <a:srgbClr val="404040"/>
                </a:solidFill>
              </a:rPr>
              <a:t>Example:</a:t>
            </a:r>
            <a:r>
              <a:rPr lang="en-US" sz="2500">
                <a:solidFill>
                  <a:schemeClr val="dk1"/>
                </a:solidFill>
              </a:rPr>
              <a:t>​</a:t>
            </a:r>
            <a:endParaRPr sz="2500">
              <a:solidFill>
                <a:schemeClr val="dk1"/>
              </a:solidFill>
            </a:endParaRPr>
          </a:p>
          <a:p>
            <a:pPr marL="711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25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lang="en-US" sz="2500">
                <a:solidFill>
                  <a:srgbClr val="404040"/>
                </a:solidFill>
              </a:rPr>
              <a:t> → </a:t>
            </a:r>
            <a:r>
              <a:rPr lang="en-US" sz="25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559aead08264d5795d5eafd8c4c9c8b9e...</a:t>
            </a: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11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25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"Hello, world!"</a:t>
            </a:r>
            <a:r>
              <a:rPr lang="en-US" sz="2500">
                <a:solidFill>
                  <a:srgbClr val="404040"/>
                </a:solidFill>
              </a:rPr>
              <a:t> → </a:t>
            </a:r>
            <a:r>
              <a:rPr lang="en-US" sz="25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a591a6d40bf420404a011733cfb7b190...</a:t>
            </a:r>
            <a:r>
              <a:rPr lang="en-US" sz="2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</a:t>
            </a:r>
            <a:endParaRPr sz="2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10">
              <a:solidFill>
                <a:srgbClr val="0F4662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72075" y="1451538"/>
            <a:ext cx="5007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1" b="1">
                <a:solidFill>
                  <a:schemeClr val="dk2"/>
                </a:solidFill>
              </a:rPr>
              <a:t>1. </a:t>
            </a:r>
            <a:r>
              <a:rPr lang="en-US" sz="3600" b="1">
                <a:solidFill>
                  <a:schemeClr val="dk2"/>
                </a:solidFill>
              </a:rPr>
              <a:t>Fixed Output Size</a:t>
            </a:r>
            <a:r>
              <a:rPr lang="en-US" sz="3341" b="1">
                <a:solidFill>
                  <a:schemeClr val="dk2"/>
                </a:solidFill>
              </a:rPr>
              <a:t>: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751500" y="2560100"/>
            <a:ext cx="74844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A good hash function </a:t>
            </a:r>
            <a:r>
              <a:rPr lang="en-US" sz="2400" b="1">
                <a:solidFill>
                  <a:srgbClr val="404040"/>
                </a:solidFill>
              </a:rPr>
              <a:t>quickly</a:t>
            </a:r>
            <a:r>
              <a:rPr lang="en-US" sz="2400">
                <a:solidFill>
                  <a:srgbClr val="404040"/>
                </a:solidFill>
              </a:rPr>
              <a:t> generates a hash, even for large files.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404040"/>
                </a:solidFill>
              </a:rPr>
              <a:t>   Example: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You type </a:t>
            </a:r>
            <a:r>
              <a:rPr lang="en-US" sz="2400" b="1">
                <a:solidFill>
                  <a:srgbClr val="404040"/>
                </a:solidFill>
              </a:rPr>
              <a:t>"MyPassword123"</a:t>
            </a:r>
            <a:r>
              <a:rPr lang="en-US" sz="2400">
                <a:solidFill>
                  <a:srgbClr val="404040"/>
                </a:solidFill>
              </a:rPr>
              <a:t> → 🔒 </a:t>
            </a:r>
            <a:r>
              <a:rPr lang="en-US" sz="2400" b="1">
                <a:solidFill>
                  <a:srgbClr val="404040"/>
                </a:solidFill>
              </a:rPr>
              <a:t>Hash:</a:t>
            </a:r>
            <a:r>
              <a:rPr lang="en-US" sz="2400">
                <a:solidFill>
                  <a:srgbClr val="404040"/>
                </a:solidFill>
              </a:rPr>
              <a:t> a1b2c3d4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System compares it with the stored hash a1b2c3d4 (Login successful!)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(Same hash = Correct Password )</a:t>
            </a:r>
            <a:endParaRPr sz="2400">
              <a:solidFill>
                <a:srgbClr val="404040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9751500" y="1636363"/>
            <a:ext cx="49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1" b="1">
                <a:solidFill>
                  <a:schemeClr val="dk2"/>
                </a:solidFill>
              </a:rPr>
              <a:t>2. </a:t>
            </a:r>
            <a:r>
              <a:rPr lang="en-US" sz="3600" b="1">
                <a:solidFill>
                  <a:schemeClr val="dk2"/>
                </a:solidFill>
              </a:rPr>
              <a:t>Fast Computation</a:t>
            </a:r>
            <a:r>
              <a:rPr lang="en-US" sz="3341" b="1">
                <a:solidFill>
                  <a:schemeClr val="dk2"/>
                </a:solidFill>
              </a:rPr>
              <a:t>: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72075" y="7562625"/>
            <a:ext cx="15571200" cy="22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Ideally, </a:t>
            </a:r>
            <a:r>
              <a:rPr lang="en-US" sz="2400" b="1">
                <a:solidFill>
                  <a:srgbClr val="404040"/>
                </a:solidFill>
              </a:rPr>
              <a:t>each input should produce a unique hash</a:t>
            </a:r>
            <a:r>
              <a:rPr lang="en-US" sz="2400">
                <a:solidFill>
                  <a:srgbClr val="404040"/>
                </a:solidFill>
              </a:rPr>
              <a:t>.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However, in very rare cases, two different inputs may produce the same hash—this is called a </a:t>
            </a:r>
            <a:r>
              <a:rPr lang="en-US" sz="2400" b="1">
                <a:solidFill>
                  <a:srgbClr val="404040"/>
                </a:solidFill>
              </a:rPr>
              <a:t>collision</a:t>
            </a:r>
            <a:r>
              <a:rPr lang="en-US" sz="2400">
                <a:solidFill>
                  <a:srgbClr val="404040"/>
                </a:solidFill>
              </a:rPr>
              <a:t>.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404040"/>
                </a:solidFill>
              </a:rPr>
              <a:t>    Example: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-US" sz="2400">
                <a:solidFill>
                  <a:srgbClr val="404040"/>
                </a:solidFill>
              </a:rPr>
              <a:t> → </a:t>
            </a: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5d41402abc4b2a76b9719d911017c592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-US" sz="2400">
                <a:solidFill>
                  <a:srgbClr val="404040"/>
                </a:solidFill>
              </a:rPr>
              <a:t> → </a:t>
            </a: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8b1a9953c4611296a827abf8c47804d7</a:t>
            </a:r>
            <a:r>
              <a:rPr lang="en-US" sz="2400">
                <a:solidFill>
                  <a:srgbClr val="404040"/>
                </a:solidFill>
              </a:rPr>
              <a:t> (Completely different hash).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38100" y="6662775"/>
            <a:ext cx="8585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2"/>
                </a:solidFill>
              </a:rPr>
              <a:t>3. Unique Hash (Minimal Collisions):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1362225" y="728100"/>
            <a:ext cx="1294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103875" y="728100"/>
            <a:ext cx="4537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2"/>
                </a:solidFill>
              </a:rPr>
              <a:t>4. Deterministic​: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103875" y="1467000"/>
            <a:ext cx="138381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The same input will always produce the same hash.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04040"/>
                </a:solidFill>
              </a:rPr>
              <a:t>    </a:t>
            </a:r>
            <a:r>
              <a:rPr lang="en-US" sz="2400" b="1">
                <a:solidFill>
                  <a:srgbClr val="404040"/>
                </a:solidFill>
              </a:rPr>
              <a:t>Example: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-US" sz="2400">
                <a:solidFill>
                  <a:srgbClr val="404040"/>
                </a:solidFill>
              </a:rPr>
              <a:t> → </a:t>
            </a: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a1b2c3d4e5f6g7h8i9j0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Every time you hash </a:t>
            </a: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-US" sz="2400">
                <a:solidFill>
                  <a:srgbClr val="404040"/>
                </a:solidFill>
              </a:rPr>
              <a:t>, the output (hash) </a:t>
            </a:r>
            <a:r>
              <a:rPr lang="en-US" sz="2400" b="1">
                <a:solidFill>
                  <a:srgbClr val="404040"/>
                </a:solidFill>
              </a:rPr>
              <a:t>remains the same.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103875" y="3781300"/>
            <a:ext cx="9855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2"/>
                </a:solidFill>
              </a:rPr>
              <a:t>5. Small Change, Big Difference ​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103875" y="4520200"/>
            <a:ext cx="128283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         </a:t>
            </a:r>
            <a:r>
              <a:rPr lang="en-US" sz="2400">
                <a:solidFill>
                  <a:srgbClr val="404040"/>
                </a:solidFill>
              </a:rPr>
              <a:t>Even a tiny change in input results in a completely different hash.</a:t>
            </a:r>
            <a:endParaRPr sz="2400">
              <a:solidFill>
                <a:srgbClr val="40404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04040"/>
                </a:solidFill>
              </a:rPr>
              <a:t>    </a:t>
            </a:r>
            <a:r>
              <a:rPr lang="en-US" sz="2400" b="1">
                <a:solidFill>
                  <a:srgbClr val="404040"/>
                </a:solidFill>
              </a:rPr>
              <a:t>Example: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-US" sz="2400">
                <a:solidFill>
                  <a:srgbClr val="404040"/>
                </a:solidFill>
              </a:rPr>
              <a:t> → </a:t>
            </a: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5d41402abc4b2a76b9719d911017c592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​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-US" sz="2400">
                <a:solidFill>
                  <a:srgbClr val="404040"/>
                </a:solidFill>
              </a:rPr>
              <a:t> → </a:t>
            </a: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8b1a9953c4611296a827abf8c47804d7</a:t>
            </a:r>
            <a:endParaRPr sz="2400">
              <a:solidFill>
                <a:srgbClr val="40404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103875" y="7564300"/>
            <a:ext cx="15717000" cy="22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Hashes are </a:t>
            </a:r>
            <a:r>
              <a:rPr lang="en-US" sz="2400" b="1">
                <a:solidFill>
                  <a:srgbClr val="404040"/>
                </a:solidFill>
              </a:rPr>
              <a:t>much smaller</a:t>
            </a:r>
            <a:r>
              <a:rPr lang="en-US" sz="2400">
                <a:solidFill>
                  <a:srgbClr val="404040"/>
                </a:solidFill>
              </a:rPr>
              <a:t> than the original data and also uniquely represent it.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This is useful for </a:t>
            </a:r>
            <a:r>
              <a:rPr lang="en-US" sz="2400" b="1">
                <a:solidFill>
                  <a:srgbClr val="404040"/>
                </a:solidFill>
              </a:rPr>
              <a:t>storing passwords.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04040"/>
                </a:solidFill>
              </a:rPr>
              <a:t>  </a:t>
            </a:r>
            <a:r>
              <a:rPr lang="en-US" sz="2400" b="1">
                <a:solidFill>
                  <a:srgbClr val="404040"/>
                </a:solidFill>
              </a:rPr>
              <a:t>Example: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Instead of storing a long password like </a:t>
            </a:r>
            <a:r>
              <a:rPr lang="en-US" sz="240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rPr>
              <a:t>"MySuperSecurePassword123"</a:t>
            </a:r>
            <a:r>
              <a:rPr lang="en-US" sz="2400">
                <a:solidFill>
                  <a:srgbClr val="404040"/>
                </a:solidFill>
              </a:rPr>
              <a:t>, the system only stores its </a:t>
            </a:r>
            <a:r>
              <a:rPr lang="en-US" sz="2400" b="1">
                <a:solidFill>
                  <a:srgbClr val="404040"/>
                </a:solidFill>
              </a:rPr>
              <a:t>hash</a:t>
            </a:r>
            <a:r>
              <a:rPr lang="en-US" sz="2400">
                <a:solidFill>
                  <a:srgbClr val="404040"/>
                </a:solidFill>
              </a:rPr>
              <a:t>.</a:t>
            </a:r>
            <a:r>
              <a:rPr lang="en-US" sz="2400">
                <a:solidFill>
                  <a:schemeClr val="dk1"/>
                </a:solidFill>
              </a:rPr>
              <a:t>​</a:t>
            </a:r>
            <a:endParaRPr sz="2400">
              <a:solidFill>
                <a:schemeClr val="dk1"/>
              </a:solidFill>
            </a:endParaRPr>
          </a:p>
          <a:p>
            <a:pPr marL="711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2400">
                <a:solidFill>
                  <a:srgbClr val="404040"/>
                </a:solidFill>
              </a:rPr>
              <a:t>This way, even if someone access it, they </a:t>
            </a:r>
            <a:r>
              <a:rPr lang="en-US" sz="2400" b="1">
                <a:solidFill>
                  <a:srgbClr val="404040"/>
                </a:solidFill>
              </a:rPr>
              <a:t>can’t see the actual passwords</a:t>
            </a:r>
            <a:r>
              <a:rPr lang="en-US" sz="2400">
                <a:solidFill>
                  <a:srgbClr val="404040"/>
                </a:solidFill>
              </a:rPr>
              <a:t>.</a:t>
            </a:r>
            <a:endParaRPr sz="2400">
              <a:solidFill>
                <a:srgbClr val="404040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103875" y="6834500"/>
            <a:ext cx="683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2"/>
                </a:solidFill>
              </a:rPr>
              <a:t>6. Efficient Storage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249334" y="9887712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9" name="Google Shape;119;p15"/>
          <p:cNvSpPr/>
          <p:nvPr/>
        </p:nvSpPr>
        <p:spPr>
          <a:xfrm>
            <a:off x="15761784" y="803262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05916" y="5246261"/>
            <a:ext cx="8898590" cy="8113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ts val="5600"/>
              </a:lnSpc>
              <a:buNone/>
            </a:pPr>
            <a:r>
              <a:rPr lang="en-US" sz="60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What is a Digital Signature?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21436" y="6701805"/>
            <a:ext cx="11257280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8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 digital signature is an electronic stamp that ensures the </a:t>
            </a:r>
            <a:r>
              <a:rPr lang="en-US" sz="2800" dirty="0" smtClean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authenticity</a:t>
            </a:r>
          </a:p>
          <a:p>
            <a:pPr marL="0" indent="0">
              <a:lnSpc>
                <a:spcPts val="2700"/>
              </a:lnSpc>
              <a:buNone/>
            </a:pPr>
            <a:endParaRPr lang="en-US" sz="2800" dirty="0">
              <a:solidFill>
                <a:srgbClr val="3B3535"/>
              </a:solidFill>
              <a:latin typeface="Times New Roman" panose="02020603050405020304" pitchFamily="18" charset="0"/>
              <a:ea typeface="Sora Light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sz="2800" dirty="0" smtClean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and integrity of digital documents and messages. It is a more </a:t>
            </a:r>
            <a:r>
              <a:rPr lang="en-US" sz="2800" dirty="0" smtClean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secure</a:t>
            </a:r>
          </a:p>
          <a:p>
            <a:pPr marL="0" indent="0">
              <a:lnSpc>
                <a:spcPts val="2700"/>
              </a:lnSpc>
              <a:buNone/>
            </a:pPr>
            <a:endParaRPr lang="en-US" sz="2800" dirty="0">
              <a:solidFill>
                <a:srgbClr val="3B3535"/>
              </a:solidFill>
              <a:latin typeface="Times New Roman" panose="02020603050405020304" pitchFamily="18" charset="0"/>
              <a:ea typeface="Sora Light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sz="2800" dirty="0" smtClean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method than passwords or handwritten signatures.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415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5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85438" y="1060340"/>
            <a:ext cx="9370404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56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Britannic Bold" panose="020B0903060703020204" pitchFamily="34" charset="0"/>
                <a:ea typeface="Alexandria Semi Bold" pitchFamily="34" charset="-122"/>
                <a:cs typeface="Alexandria Semi Bold" pitchFamily="34" charset="-120"/>
              </a:rPr>
              <a:t>Digital Signatures in Information Security</a:t>
            </a:r>
            <a:endParaRPr 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12000" y="2606050"/>
            <a:ext cx="87172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Digital signatures are a critical part of information security. They ensure the authenticity and integrity of digital documents and messages, preventing tampering and fraud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00800" cy="10287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5438" y="5405766"/>
            <a:ext cx="111048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a digital signature like a fingerprint for documents. It's like signing paper by hand, but much safer. Each signature is unique and can't be copied by others.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more businesses stop using paper, digital signatures help them: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 exactly who signed a document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documents stay unchanged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agreements that hold up legally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work done faster</a:t>
            </a:r>
          </a:p>
        </p:txBody>
      </p:sp>
    </p:spTree>
    <p:extLst>
      <p:ext uri="{BB962C8B-B14F-4D97-AF65-F5344CB8AC3E}">
        <p14:creationId xmlns:p14="http://schemas.microsoft.com/office/powerpoint/2010/main" val="84825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1347" y="979061"/>
            <a:ext cx="15342662" cy="810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i="1" dirty="0">
                <a:solidFill>
                  <a:srgbClr val="1F1E1E"/>
                </a:solidFill>
                <a:latin typeface="+mj-lt"/>
                <a:ea typeface="Alexandria Semi Bold" pitchFamily="34" charset="-122"/>
                <a:cs typeface="Alexandria Semi Bold" pitchFamily="34" charset="-120"/>
              </a:rPr>
              <a:t>From Pen to Digital: How Signatures Changed</a:t>
            </a:r>
            <a:endParaRPr lang="en-US" sz="5400" b="1" i="1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326880" y="3229777"/>
            <a:ext cx="83718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New Way: Digital </a:t>
            </a:r>
            <a:r>
              <a:rPr lang="en-US" sz="2800" b="1" dirty="0" smtClean="0"/>
              <a:t>Signing</a:t>
            </a:r>
          </a:p>
          <a:p>
            <a:endParaRPr lang="en-US" sz="2800" b="1" dirty="0"/>
          </a:p>
          <a:p>
            <a:r>
              <a:rPr lang="en-US" sz="2800" dirty="0"/>
              <a:t>Now we can sign things on computers and phones. This new way is safer and faster than using pen and paper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Signing PDF files 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Sending tax forms electronically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Approving bank transfers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Signing work emails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29778"/>
            <a:ext cx="8128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Old Way: Writing by </a:t>
            </a:r>
            <a:r>
              <a:rPr lang="en-US" sz="2800" b="1" dirty="0" smtClean="0"/>
              <a:t>Hand</a:t>
            </a:r>
          </a:p>
          <a:p>
            <a:endParaRPr lang="en-US" sz="2800" b="1" dirty="0"/>
          </a:p>
          <a:p>
            <a:r>
              <a:rPr lang="en-US" sz="2800" dirty="0"/>
              <a:t>People used to sign papers with a pen. While this worked for years, it's easy to copy or fake handwritten signatures today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 Signing </a:t>
            </a:r>
            <a:r>
              <a:rPr lang="en-US" sz="2800" dirty="0"/>
              <a:t>paper checks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 Putting </a:t>
            </a:r>
            <a:r>
              <a:rPr lang="en-US" sz="2800" dirty="0"/>
              <a:t>your name on contracts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 Getting </a:t>
            </a:r>
            <a:r>
              <a:rPr lang="en-US" sz="2800" dirty="0"/>
              <a:t>documents approved by a notary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 Signing </a:t>
            </a:r>
            <a:r>
              <a:rPr lang="en-US" sz="2800" dirty="0"/>
              <a:t>store receipts</a:t>
            </a:r>
          </a:p>
        </p:txBody>
      </p:sp>
    </p:spTree>
    <p:extLst>
      <p:ext uri="{BB962C8B-B14F-4D97-AF65-F5344CB8AC3E}">
        <p14:creationId xmlns:p14="http://schemas.microsoft.com/office/powerpoint/2010/main" val="1713684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32585" y="313829"/>
            <a:ext cx="8581195" cy="7591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ts val="52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+mj-lt"/>
                <a:ea typeface="Alexandria Semi Bold" pitchFamily="34" charset="-122"/>
                <a:cs typeface="Alexandria Semi Bold" pitchFamily="34" charset="-120"/>
              </a:rPr>
              <a:t>Understanding the Technology</a:t>
            </a:r>
            <a:endParaRPr lang="en-US" sz="4800" dirty="0">
              <a:latin typeface="+mj-lt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22" y="1493015"/>
            <a:ext cx="1008578" cy="121027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017038" y="1766442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Private Key</a:t>
            </a:r>
            <a:endParaRPr lang="en-US" sz="2400" b="1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22" y="3213239"/>
            <a:ext cx="1008578" cy="121027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017038" y="3415763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Public Key</a:t>
            </a:r>
            <a:endParaRPr lang="en-US" sz="2400" b="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22" y="4719221"/>
            <a:ext cx="1008578" cy="121027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017038" y="4897635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+mj-lt"/>
                <a:ea typeface="Alexandria Semi Bold" pitchFamily="34" charset="-122"/>
                <a:cs typeface="Alexandria Semi Bold" pitchFamily="34" charset="-120"/>
              </a:rPr>
              <a:t>Fingerprint (Hash)</a:t>
            </a:r>
            <a:endParaRPr lang="en-US" sz="2400" b="1" dirty="0">
              <a:latin typeface="+mj-lt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22" y="6391930"/>
            <a:ext cx="1008578" cy="121027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17038" y="6567110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Encryption</a:t>
            </a:r>
            <a:endParaRPr lang="en-US" sz="2400" b="1" dirty="0">
              <a:latin typeface="+mn-lt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22" y="8064639"/>
            <a:ext cx="1008578" cy="12102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17038" y="8162110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Verification</a:t>
            </a:r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2017038" y="2148184"/>
            <a:ext cx="71657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The sender uses a secret key to sign the document</a:t>
            </a:r>
            <a:endParaRPr lang="en-US" sz="2400" dirty="0">
              <a:latin typeface="+mn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017038" y="3954689"/>
            <a:ext cx="99132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This key is shared and can be used to verify the signature's authenticity</a:t>
            </a:r>
            <a:endParaRPr lang="en-US" sz="2400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17038" y="5451578"/>
            <a:ext cx="7904728" cy="412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500"/>
              </a:lnSpc>
            </a:pPr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A unique digital fingerprint is created from the document.</a:t>
            </a:r>
            <a:endParaRPr lang="en-US" sz="2400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924064" y="7127804"/>
            <a:ext cx="80666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The fingerprint is encrypted using the sender's private key</a:t>
            </a:r>
            <a:endParaRPr lang="en-US" sz="240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924064" y="8698873"/>
            <a:ext cx="102483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The recipient uses the sender's public key to check the signature's validity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195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25532" y="915598"/>
            <a:ext cx="8057014" cy="759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Benefits of Digital Signatures</a:t>
            </a:r>
            <a:endParaRPr lang="en-US" sz="4400" b="1" dirty="0">
              <a:latin typeface="+mn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17920" cy="10287000"/>
          </a:xfrm>
          <a:prstGeom prst="rect">
            <a:avLst/>
          </a:prstGeom>
        </p:spPr>
      </p:pic>
      <p:sp>
        <p:nvSpPr>
          <p:cNvPr id="14" name="Shape 1"/>
          <p:cNvSpPr/>
          <p:nvPr/>
        </p:nvSpPr>
        <p:spPr>
          <a:xfrm>
            <a:off x="7438090" y="3639942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5" name="Text 2"/>
          <p:cNvSpPr/>
          <p:nvPr/>
        </p:nvSpPr>
        <p:spPr>
          <a:xfrm>
            <a:off x="7614541" y="3712571"/>
            <a:ext cx="13442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16" name="Text 3"/>
          <p:cNvSpPr/>
          <p:nvPr/>
        </p:nvSpPr>
        <p:spPr>
          <a:xfrm>
            <a:off x="8188246" y="36791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3600" b="1" dirty="0">
                <a:solidFill>
                  <a:srgbClr val="3B3535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Authenticity</a:t>
            </a:r>
            <a:endParaRPr lang="en-US" sz="3600" b="1" dirty="0">
              <a:latin typeface="+mn-lt"/>
            </a:endParaRPr>
          </a:p>
        </p:txBody>
      </p:sp>
      <p:sp>
        <p:nvSpPr>
          <p:cNvPr id="17" name="Text 4"/>
          <p:cNvSpPr/>
          <p:nvPr/>
        </p:nvSpPr>
        <p:spPr>
          <a:xfrm>
            <a:off x="8188246" y="4310182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Proves who sent the document, so no one can fake it.</a:t>
            </a:r>
            <a:endParaRPr lang="en-US" sz="2400" dirty="0">
              <a:latin typeface="+mn-lt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12583356" y="3638730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9" name="Text 6"/>
          <p:cNvSpPr/>
          <p:nvPr/>
        </p:nvSpPr>
        <p:spPr>
          <a:xfrm>
            <a:off x="12724981" y="3725644"/>
            <a:ext cx="20419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20" name="Text 7"/>
          <p:cNvSpPr/>
          <p:nvPr/>
        </p:nvSpPr>
        <p:spPr>
          <a:xfrm>
            <a:off x="13577255" y="37043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3600" b="1" dirty="0">
                <a:solidFill>
                  <a:srgbClr val="3B3535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Integrity</a:t>
            </a:r>
            <a:endParaRPr lang="en-US" sz="3600" b="1" dirty="0">
              <a:latin typeface="+mn-lt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10117336" y="631391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2" name="Text 10"/>
          <p:cNvSpPr/>
          <p:nvPr/>
        </p:nvSpPr>
        <p:spPr>
          <a:xfrm>
            <a:off x="10258782" y="6386547"/>
            <a:ext cx="204549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23" name="Text 11"/>
          <p:cNvSpPr/>
          <p:nvPr/>
        </p:nvSpPr>
        <p:spPr>
          <a:xfrm>
            <a:off x="10946768" y="646961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3600" b="1" dirty="0">
                <a:solidFill>
                  <a:srgbClr val="3B3535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Non-repudiation</a:t>
            </a:r>
            <a:endParaRPr lang="en-US" sz="3600" b="1" dirty="0">
              <a:latin typeface="+mn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3436472" y="4310182"/>
            <a:ext cx="31322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Shows if anyone has changed the document after it was signed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10747018" y="7085109"/>
            <a:ext cx="30672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Senders can't deny they signed the document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896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15795" y="633621"/>
            <a:ext cx="6756978" cy="810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ts val="56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Real-World Applications</a:t>
            </a:r>
            <a:endParaRPr lang="en-US" sz="4800" dirty="0">
              <a:latin typeface="+mn-lt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931269" y="2437170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" name="Text 2"/>
          <p:cNvSpPr/>
          <p:nvPr/>
        </p:nvSpPr>
        <p:spPr>
          <a:xfrm>
            <a:off x="8155464" y="266136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3200" dirty="0">
                <a:solidFill>
                  <a:srgbClr val="3B3535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Email Security</a:t>
            </a:r>
            <a:endParaRPr lang="en-US" sz="3200" dirty="0">
              <a:latin typeface="+mn-lt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155464" y="314749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Protects against fake or tampered emails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Shape 4"/>
          <p:cNvSpPr/>
          <p:nvPr/>
        </p:nvSpPr>
        <p:spPr>
          <a:xfrm>
            <a:off x="7931269" y="3934976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8155464" y="415917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3200" dirty="0">
                <a:solidFill>
                  <a:srgbClr val="3B3535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Legal Documents</a:t>
            </a:r>
            <a:endParaRPr lang="en-US" sz="3200" dirty="0">
              <a:latin typeface="+mn-lt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155464" y="464530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Makes online agreements legally valid and secure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Shape 7"/>
          <p:cNvSpPr/>
          <p:nvPr/>
        </p:nvSpPr>
        <p:spPr>
          <a:xfrm>
            <a:off x="7931269" y="5467637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8155464" y="5656977"/>
            <a:ext cx="30145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3200" dirty="0">
                <a:solidFill>
                  <a:srgbClr val="3B3535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Software Downloads</a:t>
            </a:r>
            <a:endParaRPr lang="en-US" sz="3200" dirty="0">
              <a:latin typeface="+mn-lt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155464" y="6143109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Ensures software has not been modified by hackers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18" name="Shape 10"/>
          <p:cNvSpPr/>
          <p:nvPr/>
        </p:nvSpPr>
        <p:spPr>
          <a:xfrm>
            <a:off x="7931269" y="7000299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8155464" y="71547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3200" dirty="0">
                <a:solidFill>
                  <a:srgbClr val="3B3535"/>
                </a:solidFill>
                <a:latin typeface="+mn-lt"/>
                <a:ea typeface="Alexandria Semi Bold" pitchFamily="34" charset="-122"/>
                <a:cs typeface="Alexandria Semi Bold" pitchFamily="34" charset="-120"/>
              </a:rPr>
              <a:t>Online Banking</a:t>
            </a:r>
            <a:endParaRPr lang="en-US" sz="3200" dirty="0">
              <a:latin typeface="+mn-lt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155464" y="7640915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+mn-lt"/>
                <a:ea typeface="Sora Light" pitchFamily="34" charset="-122"/>
                <a:cs typeface="Sora Light" pitchFamily="34" charset="-120"/>
              </a:rPr>
              <a:t>Prevents fraud in financial transactions.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8991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5934" y="1047532"/>
            <a:ext cx="118801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+mn-lt"/>
              </a:rPr>
              <a:t>Real-Life Story-Based Examples of Digital Signatures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2480290"/>
            <a:ext cx="1780032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800" b="1" dirty="0" smtClean="0"/>
              <a:t>Unlocking </a:t>
            </a:r>
            <a:r>
              <a:rPr lang="en-US" sz="2800" b="1" dirty="0"/>
              <a:t>Your Phone with a </a:t>
            </a:r>
            <a:r>
              <a:rPr lang="en-US" sz="2800" b="1" dirty="0" smtClean="0"/>
              <a:t>Fingerprint</a:t>
            </a:r>
          </a:p>
          <a:p>
            <a:endParaRPr lang="en-US" sz="2400" b="1" dirty="0"/>
          </a:p>
          <a:p>
            <a:r>
              <a:rPr lang="en-US" sz="2400" dirty="0"/>
              <a:t>Imagine you use your </a:t>
            </a:r>
            <a:r>
              <a:rPr lang="en-US" sz="2400" b="1" dirty="0"/>
              <a:t>fingerprint</a:t>
            </a:r>
            <a:r>
              <a:rPr lang="en-US" sz="2400" dirty="0"/>
              <a:t> to unlock your phone. Your fingerprint acts like a </a:t>
            </a:r>
            <a:r>
              <a:rPr lang="en-US" sz="2400" b="1" dirty="0"/>
              <a:t>digital signature</a:t>
            </a:r>
            <a:r>
              <a:rPr lang="en-US" sz="2400" dirty="0"/>
              <a:t>—it proves that </a:t>
            </a:r>
            <a:r>
              <a:rPr lang="en-US" sz="2400" i="1" dirty="0"/>
              <a:t>you</a:t>
            </a:r>
            <a:r>
              <a:rPr lang="en-US" sz="2400" dirty="0"/>
              <a:t> are the real owner of the phone. If someone else tries to use their fingerprint, the phone will reject it because it doesn’t match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💡 </a:t>
            </a:r>
            <a:r>
              <a:rPr lang="en-US" sz="2400" b="1" dirty="0"/>
              <a:t>Digital Signature Similarity:</a:t>
            </a:r>
            <a:r>
              <a:rPr lang="en-US" sz="2400" dirty="0"/>
              <a:t> Just like your fingerprint unlocks your phone, a digital signature ensures that a document/message comes from the real sender and has not been altered.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5781158"/>
            <a:ext cx="1649984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2. Smart Doors with Fingerprint </a:t>
            </a:r>
            <a:r>
              <a:rPr lang="en-US" sz="3200" b="1" dirty="0" smtClean="0"/>
              <a:t>Access</a:t>
            </a:r>
          </a:p>
          <a:p>
            <a:endParaRPr lang="en-US" sz="2400" b="1" dirty="0"/>
          </a:p>
          <a:p>
            <a:r>
              <a:rPr lang="en-US" sz="2400" dirty="0"/>
              <a:t>In offices and homes, </a:t>
            </a:r>
            <a:r>
              <a:rPr lang="en-US" sz="2400" b="1" dirty="0"/>
              <a:t>smart doors</a:t>
            </a:r>
            <a:r>
              <a:rPr lang="en-US" sz="2400" dirty="0"/>
              <a:t> use </a:t>
            </a:r>
            <a:r>
              <a:rPr lang="en-US" sz="2400" b="1" dirty="0"/>
              <a:t>fingerprint or facial recognition</a:t>
            </a:r>
            <a:r>
              <a:rPr lang="en-US" sz="2400" dirty="0"/>
              <a:t> to unlock. If the system recognizes you, the door opens; if not, access is denied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💡 </a:t>
            </a:r>
            <a:r>
              <a:rPr lang="en-US" sz="2400" b="1" dirty="0"/>
              <a:t>Digital Signature Similarity:</a:t>
            </a:r>
            <a:r>
              <a:rPr lang="en-US" sz="2400" dirty="0"/>
              <a:t> A digital signature acts like a security lock for online documents—only authorized users can verify and trust the data.</a:t>
            </a:r>
          </a:p>
        </p:txBody>
      </p:sp>
    </p:spTree>
    <p:extLst>
      <p:ext uri="{BB962C8B-B14F-4D97-AF65-F5344CB8AC3E}">
        <p14:creationId xmlns:p14="http://schemas.microsoft.com/office/powerpoint/2010/main" val="259604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53425" y="264319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66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Takeaways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1204198" y="5439965"/>
            <a:ext cx="762738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1028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37120" y="4511040"/>
            <a:ext cx="88798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Digital signatures help keep our online documents safe and trustworthy. They prove who sent a document, show if anyone changed it, and create a record that can't be denied. As more of our world moves online, digital signatures will become even more important in our daily lives.</a:t>
            </a:r>
          </a:p>
        </p:txBody>
      </p:sp>
    </p:spTree>
    <p:extLst>
      <p:ext uri="{BB962C8B-B14F-4D97-AF65-F5344CB8AC3E}">
        <p14:creationId xmlns:p14="http://schemas.microsoft.com/office/powerpoint/2010/main" val="844588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16"/>
          <p:cNvCxnSpPr/>
          <p:nvPr/>
        </p:nvCxnSpPr>
        <p:spPr>
          <a:xfrm>
            <a:off x="5897880" y="9220200"/>
            <a:ext cx="6492240" cy="0"/>
          </a:xfrm>
          <a:prstGeom prst="straightConnector1">
            <a:avLst/>
          </a:prstGeom>
          <a:noFill/>
          <a:ln w="76200" cap="flat" cmpd="sng">
            <a:solidFill>
              <a:srgbClr val="0F466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16"/>
          <p:cNvSpPr/>
          <p:nvPr/>
        </p:nvSpPr>
        <p:spPr>
          <a:xfrm>
            <a:off x="8304001" y="965467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6" name="Google Shape;126;p16"/>
          <p:cNvSpPr txBox="1"/>
          <p:nvPr/>
        </p:nvSpPr>
        <p:spPr>
          <a:xfrm>
            <a:off x="1028700" y="1738208"/>
            <a:ext cx="12394107" cy="7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84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Digital signatures work in these following steps: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28700" y="2480838"/>
            <a:ext cx="12855562" cy="108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1" u="none" strike="noStrike" cap="non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Step 1: Generating the Digital Signature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0108" y="3759682"/>
            <a:ext cx="17117890" cy="437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00721" marR="0" lvl="1" indent="-45036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4171"/>
              <a:buFont typeface="Arial"/>
              <a:buChar char="•"/>
            </a:pPr>
            <a:r>
              <a:rPr lang="en-US" sz="4171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The sender applies a hash function to the original document, creating a fixed-length hash value.</a:t>
            </a:r>
            <a:endParaRPr/>
          </a:p>
          <a:p>
            <a:pPr marL="900721" marR="0" lvl="1" indent="-45036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4171"/>
              <a:buFont typeface="Arial"/>
              <a:buChar char="•"/>
            </a:pPr>
            <a:r>
              <a:rPr lang="en-US" sz="4171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This hash is encrypted using the sender’s private key, generating the digital signature.</a:t>
            </a:r>
            <a:endParaRPr/>
          </a:p>
          <a:p>
            <a:pPr marL="900721" marR="0" lvl="1" indent="-45036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4171"/>
              <a:buFont typeface="Arial"/>
              <a:buChar char="•"/>
            </a:pPr>
            <a:r>
              <a:rPr lang="en-US" sz="4171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The original document and the digital signature are sent to the recipient.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605304" y="372350"/>
            <a:ext cx="13062189" cy="132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8" b="1" i="1" u="none" strike="noStrike" cap="non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Working of Digital Signature: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17"/>
          <p:cNvCxnSpPr/>
          <p:nvPr/>
        </p:nvCxnSpPr>
        <p:spPr>
          <a:xfrm>
            <a:off x="5897880" y="9220200"/>
            <a:ext cx="6492240" cy="0"/>
          </a:xfrm>
          <a:prstGeom prst="straightConnector1">
            <a:avLst/>
          </a:prstGeom>
          <a:noFill/>
          <a:ln w="76200" cap="flat" cmpd="sng">
            <a:solidFill>
              <a:srgbClr val="0F466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17"/>
          <p:cNvSpPr txBox="1"/>
          <p:nvPr/>
        </p:nvSpPr>
        <p:spPr>
          <a:xfrm>
            <a:off x="3452904" y="219950"/>
            <a:ext cx="13062189" cy="132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8" b="1" i="1" u="none" strike="noStrike" cap="non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Working of Digital Signature: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8304001" y="965467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p17"/>
          <p:cNvSpPr txBox="1"/>
          <p:nvPr/>
        </p:nvSpPr>
        <p:spPr>
          <a:xfrm>
            <a:off x="1028700" y="1702863"/>
            <a:ext cx="12855562" cy="108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1" u="none" strike="noStrike" cap="non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Step 2: Verifying the Digital Signature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5055" y="3028092"/>
            <a:ext cx="17117890" cy="5837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00721" marR="0" lvl="1" indent="-45036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4171"/>
              <a:buFont typeface="Arial"/>
              <a:buChar char="•"/>
            </a:pPr>
            <a:r>
              <a:rPr lang="en-US" sz="4171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The recipient applies the same hash function to the received document to generate a new hash value.</a:t>
            </a:r>
            <a:endParaRPr/>
          </a:p>
          <a:p>
            <a:pPr marL="900721" marR="0" lvl="1" indent="-45036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4171"/>
              <a:buFont typeface="Arial"/>
              <a:buChar char="•"/>
            </a:pPr>
            <a:r>
              <a:rPr lang="en-US" sz="4171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The recipient then decrypts the digital signature using the sender’s public key, retrieving the original hash.</a:t>
            </a:r>
            <a:endParaRPr/>
          </a:p>
          <a:p>
            <a:pPr marL="900721" marR="0" lvl="1" indent="-45036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4171"/>
              <a:buFont typeface="Arial"/>
              <a:buChar char="•"/>
            </a:pPr>
            <a:r>
              <a:rPr lang="en-US" sz="4171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If the newly generated hash matches the decrypted hash, the document is authentic and unaltered.</a:t>
            </a:r>
            <a:endParaRPr/>
          </a:p>
          <a:p>
            <a:pPr marL="900721" marR="0" lvl="1" indent="-45036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F4662"/>
              </a:buClr>
              <a:buSzPts val="4171"/>
              <a:buFont typeface="Arial"/>
              <a:buChar char="•"/>
            </a:pPr>
            <a:r>
              <a:rPr lang="en-US" sz="4171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If the hashes do not match, it indicates that the document has been tampered with.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8"/>
          <p:cNvGrpSpPr/>
          <p:nvPr/>
        </p:nvGrpSpPr>
        <p:grpSpPr>
          <a:xfrm>
            <a:off x="14093893" y="-164977"/>
            <a:ext cx="4194107" cy="10451977"/>
            <a:chOff x="0" y="-47625"/>
            <a:chExt cx="1104621" cy="2752784"/>
          </a:xfrm>
        </p:grpSpPr>
        <p:sp>
          <p:nvSpPr>
            <p:cNvPr id="144" name="Google Shape;144;p18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 extrusionOk="0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</p:spPr>
        </p:sp>
        <p:sp>
          <p:nvSpPr>
            <p:cNvPr id="145" name="Google Shape;145;p18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5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t="500" b="499"/>
          <a:stretch/>
        </p:blipFill>
        <p:spPr>
          <a:xfrm>
            <a:off x="1448161" y="1684924"/>
            <a:ext cx="15811139" cy="680364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/>
          <p:nvPr/>
        </p:nvSpPr>
        <p:spPr>
          <a:xfrm>
            <a:off x="1028700" y="9637938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 extrusionOk="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18"/>
          <p:cNvSpPr txBox="1"/>
          <p:nvPr/>
        </p:nvSpPr>
        <p:spPr>
          <a:xfrm>
            <a:off x="4469521" y="121622"/>
            <a:ext cx="10352549" cy="1194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55" b="1" i="1" u="none" strike="noStrike" cap="non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Digital Signature Diagram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/>
        </p:nvSpPr>
        <p:spPr>
          <a:xfrm>
            <a:off x="3982783" y="428942"/>
            <a:ext cx="14072100" cy="10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1" u="none" strike="noStrike" cap="none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Digital Signature Key Features</a:t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19"/>
          <p:cNvSpPr/>
          <p:nvPr/>
        </p:nvSpPr>
        <p:spPr>
          <a:xfrm>
            <a:off x="1024384" y="9633512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6" name="Google Shape;156;p19"/>
          <p:cNvSpPr/>
          <p:nvPr/>
        </p:nvSpPr>
        <p:spPr>
          <a:xfrm>
            <a:off x="8682183" y="1514212"/>
            <a:ext cx="217234" cy="8534182"/>
          </a:xfrm>
          <a:custGeom>
            <a:avLst/>
            <a:gdLst/>
            <a:ahLst/>
            <a:cxnLst/>
            <a:rect l="l" t="t" r="r" b="b"/>
            <a:pathLst>
              <a:path w="217234" h="8534182" extrusionOk="0">
                <a:moveTo>
                  <a:pt x="0" y="0"/>
                </a:moveTo>
                <a:lnTo>
                  <a:pt x="217233" y="0"/>
                </a:lnTo>
                <a:lnTo>
                  <a:pt x="217233" y="8534182"/>
                </a:lnTo>
                <a:lnTo>
                  <a:pt x="0" y="85341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7" name="Google Shape;157;p19"/>
          <p:cNvSpPr txBox="1"/>
          <p:nvPr/>
        </p:nvSpPr>
        <p:spPr>
          <a:xfrm>
            <a:off x="66675" y="1648828"/>
            <a:ext cx="5726844" cy="57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1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1.  Authentication: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024384" y="2249786"/>
            <a:ext cx="6476996" cy="1819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Ensures that the sender of a message is genuine. </a:t>
            </a:r>
            <a:endParaRPr/>
          </a:p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: Sign emails verify the sender’s identity</a:t>
            </a:r>
            <a:r>
              <a:rPr lang="en-US" sz="2610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-659384" y="4221733"/>
            <a:ext cx="57267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1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2. Integrity: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1024384" y="4809396"/>
            <a:ext cx="6476996" cy="1819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Prevents any changes to the data after signing.  </a:t>
            </a:r>
            <a:endParaRPr/>
          </a:p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 Bank documents become invalid if altered. 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294493" y="6873184"/>
            <a:ext cx="5726844" cy="57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1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3. Non-Repudiation: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028700" y="7451202"/>
            <a:ext cx="6472680" cy="181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4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The sender cannot deny sending the message. </a:t>
            </a:r>
            <a:endParaRPr/>
          </a:p>
          <a:p>
            <a:pPr marL="0" marR="0" lvl="0" indent="0" algn="just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4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2614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 E-contracts* ensure the signer can't deny signing. 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918466" y="1648828"/>
            <a:ext cx="5726844" cy="57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1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4. Confidentiality: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928659" y="2249786"/>
            <a:ext cx="8126188" cy="227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While a digital signature itself does not provide confidentiality, it is often used with encryption to protect data. </a:t>
            </a:r>
            <a:endParaRPr/>
          </a:p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 Secure banking transactions* verify authenticity. 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568309" y="4746491"/>
            <a:ext cx="5726844" cy="57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1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5. Uniqueness: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928659" y="5325540"/>
            <a:ext cx="8126188" cy="1819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Every digital signature is unique to both the signer and the document. </a:t>
            </a:r>
            <a:endParaRPr/>
          </a:p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 Adobe Sign generates distinct </a:t>
            </a:r>
            <a:endParaRPr/>
          </a:p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signatures. 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9507980" y="7378891"/>
            <a:ext cx="6711296" cy="57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1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6. Public Key Cryptography: 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928659" y="7955290"/>
            <a:ext cx="8126188" cy="1819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Uses a special method where one key is used for signing and another for verification.  </a:t>
            </a:r>
            <a:endParaRPr/>
          </a:p>
          <a:p>
            <a:pPr marL="0" marR="0" lvl="0" indent="0" algn="just" rtl="0">
              <a:lnSpc>
                <a:spcPct val="1399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0" b="1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2610" b="0" i="0" u="none" strike="noStrike" cap="none">
                <a:solidFill>
                  <a:srgbClr val="0F4662"/>
                </a:solidFill>
                <a:latin typeface="Arial"/>
                <a:ea typeface="Arial"/>
                <a:cs typeface="Arial"/>
                <a:sym typeface="Arial"/>
              </a:rPr>
              <a:t> Online purchases verify buyers using signatures.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1277</Words>
  <Application>Microsoft Office PowerPoint</Application>
  <PresentationFormat>Custom</PresentationFormat>
  <Paragraphs>154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Alexandria Semi Bold</vt:lpstr>
      <vt:lpstr>Britannic Bold</vt:lpstr>
      <vt:lpstr>Quicksand</vt:lpstr>
      <vt:lpstr>Sora Light</vt:lpstr>
      <vt:lpstr>Courier New</vt:lpstr>
      <vt:lpstr>Calibri</vt:lpstr>
      <vt:lpstr>Arial</vt:lpstr>
      <vt:lpstr>Cormorant 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9</cp:revision>
  <dcterms:modified xsi:type="dcterms:W3CDTF">2025-02-09T14:49:11Z</dcterms:modified>
</cp:coreProperties>
</file>